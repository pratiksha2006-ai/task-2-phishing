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rompt Medium"/>
      <p:regular r:id="rId17"/>
    </p:embeddedFont>
    <p:embeddedFont>
      <p:font typeface="Prompt Medium"/>
      <p:regular r:id="rId18"/>
    </p:embeddedFont>
    <p:embeddedFont>
      <p:font typeface="Prompt Medium"/>
      <p:regular r:id="rId19"/>
    </p:embeddedFont>
    <p:embeddedFont>
      <p:font typeface="Prompt Medium"/>
      <p:regular r:id="rId20"/>
    </p:embeddedFont>
    <p:embeddedFont>
      <p:font typeface="Mukta Light"/>
      <p:regular r:id="rId21"/>
    </p:embeddedFont>
    <p:embeddedFont>
      <p:font typeface="Mukta Light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6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9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3429000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 Phishing Awareness Training</a:t>
            </a:r>
            <a:endParaRPr lang="en-US" sz="4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044178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What is Phishing?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864037" y="2100263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146" y="2213372"/>
            <a:ext cx="329089" cy="32908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66280" y="2185035"/>
            <a:ext cx="365426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Deceptive Communications</a:t>
            </a:r>
            <a:endParaRPr lang="en-US" sz="2150" dirty="0"/>
          </a:p>
        </p:txBody>
      </p:sp>
      <p:sp>
        <p:nvSpPr>
          <p:cNvPr id="7" name="Text 3"/>
          <p:cNvSpPr/>
          <p:nvPr/>
        </p:nvSpPr>
        <p:spPr>
          <a:xfrm>
            <a:off x="1666280" y="2676049"/>
            <a:ext cx="661368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Phishing involves fraudulent emails, messages, or websites designed to trick you.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864037" y="3959900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7146" y="4073009"/>
            <a:ext cx="329089" cy="32908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66280" y="404467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Personal Data Theft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1666280" y="4535686"/>
            <a:ext cx="661368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Attackers use these tactics to steal your sensitive personal information.</a:t>
            </a:r>
            <a:endParaRPr lang="en-US" sz="1900" dirty="0"/>
          </a:p>
        </p:txBody>
      </p:sp>
      <p:sp>
        <p:nvSpPr>
          <p:cNvPr id="12" name="Shape 7"/>
          <p:cNvSpPr/>
          <p:nvPr/>
        </p:nvSpPr>
        <p:spPr>
          <a:xfrm>
            <a:off x="864037" y="5819537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7146" y="5932646"/>
            <a:ext cx="329089" cy="32908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66280" y="5904309"/>
            <a:ext cx="281487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Targeted Information</a:t>
            </a:r>
            <a:endParaRPr lang="en-US" sz="2150" dirty="0"/>
          </a:p>
        </p:txBody>
      </p:sp>
      <p:sp>
        <p:nvSpPr>
          <p:cNvPr id="15" name="Text 9"/>
          <p:cNvSpPr/>
          <p:nvPr/>
        </p:nvSpPr>
        <p:spPr>
          <a:xfrm>
            <a:off x="1666280" y="6395323"/>
            <a:ext cx="661368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They primarily target your passwords, One-Time Passwords (OTPs), and bank details.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3616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154" y="2881908"/>
            <a:ext cx="5656659" cy="524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How Phishing Attacks Work</a:t>
            </a:r>
            <a:endParaRPr lang="en-US" sz="3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54" y="3973354"/>
            <a:ext cx="6559629" cy="1143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49987" y="4728924"/>
            <a:ext cx="2169676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Step 1: Fake Message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849987" y="5104567"/>
            <a:ext cx="6181963" cy="30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An attacker sends a 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fake email, message, or website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that looks real.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617" y="3689985"/>
            <a:ext cx="6559629" cy="1143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98450" y="4445556"/>
            <a:ext cx="2099191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Step 2: The Click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7598450" y="4821198"/>
            <a:ext cx="6181963" cy="30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user 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clicks on the link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without checking if it is safe.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54" y="6067901"/>
            <a:ext cx="6559629" cy="1143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49987" y="6823472"/>
            <a:ext cx="2146340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Step 3: Fake Website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849987" y="7199114"/>
            <a:ext cx="6181963" cy="30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link opens a 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fake website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that looks like a real one.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9617" y="5784532"/>
            <a:ext cx="6559629" cy="11430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598450" y="6540103"/>
            <a:ext cx="2656761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Step 4: Information Stolen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7598450" y="6915745"/>
            <a:ext cx="6181963" cy="604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user enters 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password, OTP, or bank details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 and the attacker 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steals this information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9621" y="612577"/>
            <a:ext cx="9688592" cy="618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Spotting Phishing Emails: Key Indicators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779621" y="1765816"/>
            <a:ext cx="6263878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Unknown Sender: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Be wary of emails from addresses you don't recognize or that look slightly off.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79621" y="2556391"/>
            <a:ext cx="6263878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Urgent Messaging: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Phishing emails often create a sense of urgency, like "Your account will be blocked!"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79621" y="3346966"/>
            <a:ext cx="6263878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Suspicious Links: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Hover over links to check the actual URL before clicking. If it looks strange, don't click.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79621" y="4137541"/>
            <a:ext cx="6263878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Spelling &amp; Grammar Mistakes: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Professional organizations rarely send emails with errors. This is a major red flag.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79621" y="4928116"/>
            <a:ext cx="6263878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Unsolicited Attachments: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Avoid opening attachments from unknown sources, especially if there's no clear reason for them.</a:t>
            </a:r>
            <a:endParaRPr lang="en-US" sz="17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4521" y="1815941"/>
            <a:ext cx="6263878" cy="62638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71354" y="590431"/>
            <a:ext cx="4687729" cy="464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Identifying Fake Websites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6071354" y="1556028"/>
            <a:ext cx="7974092" cy="1207532"/>
          </a:xfrm>
          <a:prstGeom prst="roundRect">
            <a:avLst>
              <a:gd name="adj" fmla="val 9087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071354" y="1533168"/>
            <a:ext cx="7974092" cy="91440"/>
          </a:xfrm>
          <a:prstGeom prst="roundRect">
            <a:avLst>
              <a:gd name="adj" fmla="val 76778"/>
            </a:avLst>
          </a:prstGeom>
          <a:solidFill>
            <a:srgbClr val="A95B95"/>
          </a:solidFill>
          <a:ln/>
        </p:spPr>
      </p:sp>
      <p:sp>
        <p:nvSpPr>
          <p:cNvPr id="6" name="Shape 3"/>
          <p:cNvSpPr/>
          <p:nvPr/>
        </p:nvSpPr>
        <p:spPr>
          <a:xfrm>
            <a:off x="9807714" y="1305401"/>
            <a:ext cx="501372" cy="501372"/>
          </a:xfrm>
          <a:prstGeom prst="roundRect">
            <a:avLst>
              <a:gd name="adj" fmla="val 182380"/>
            </a:avLst>
          </a:prstGeom>
          <a:solidFill>
            <a:srgbClr val="A95B9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58090" y="1455777"/>
            <a:ext cx="200501" cy="2005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1259" y="1973818"/>
            <a:ext cx="185725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Mismatched URLs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261259" y="2306241"/>
            <a:ext cx="7594283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website's URL may have subtle misspellings or use a different domain than the official one.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071354" y="3181231"/>
            <a:ext cx="7974092" cy="1207532"/>
          </a:xfrm>
          <a:prstGeom prst="roundRect">
            <a:avLst>
              <a:gd name="adj" fmla="val 9087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6071354" y="3158371"/>
            <a:ext cx="7974092" cy="91440"/>
          </a:xfrm>
          <a:prstGeom prst="roundRect">
            <a:avLst>
              <a:gd name="adj" fmla="val 76778"/>
            </a:avLst>
          </a:prstGeom>
          <a:solidFill>
            <a:srgbClr val="A95B95"/>
          </a:solidFill>
          <a:ln/>
        </p:spPr>
      </p:sp>
      <p:sp>
        <p:nvSpPr>
          <p:cNvPr id="12" name="Shape 8"/>
          <p:cNvSpPr/>
          <p:nvPr/>
        </p:nvSpPr>
        <p:spPr>
          <a:xfrm>
            <a:off x="9807714" y="2930604"/>
            <a:ext cx="501372" cy="501372"/>
          </a:xfrm>
          <a:prstGeom prst="roundRect">
            <a:avLst>
              <a:gd name="adj" fmla="val 182380"/>
            </a:avLst>
          </a:prstGeom>
          <a:solidFill>
            <a:srgbClr val="A95B95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58090" y="3080980"/>
            <a:ext cx="200501" cy="20050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61259" y="3599021"/>
            <a:ext cx="185725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Missing HTTPS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261259" y="3931444"/>
            <a:ext cx="7594283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Legitimate websites use 'HTTPS' (the 'S' stands for secure) in their URL. Lack of it is a warning sign.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071354" y="4806434"/>
            <a:ext cx="7974092" cy="1207532"/>
          </a:xfrm>
          <a:prstGeom prst="roundRect">
            <a:avLst>
              <a:gd name="adj" fmla="val 9087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6071354" y="4783574"/>
            <a:ext cx="7974092" cy="91440"/>
          </a:xfrm>
          <a:prstGeom prst="roundRect">
            <a:avLst>
              <a:gd name="adj" fmla="val 76778"/>
            </a:avLst>
          </a:prstGeom>
          <a:solidFill>
            <a:srgbClr val="A95B95"/>
          </a:solidFill>
          <a:ln/>
        </p:spPr>
      </p:sp>
      <p:sp>
        <p:nvSpPr>
          <p:cNvPr id="18" name="Shape 13"/>
          <p:cNvSpPr/>
          <p:nvPr/>
        </p:nvSpPr>
        <p:spPr>
          <a:xfrm>
            <a:off x="9807714" y="4555808"/>
            <a:ext cx="501372" cy="501372"/>
          </a:xfrm>
          <a:prstGeom prst="roundRect">
            <a:avLst>
              <a:gd name="adj" fmla="val 182380"/>
            </a:avLst>
          </a:prstGeom>
          <a:solidFill>
            <a:srgbClr val="A95B95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58090" y="4706183"/>
            <a:ext cx="200501" cy="20050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61259" y="5224224"/>
            <a:ext cx="185725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Cloned Appearance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6261259" y="5556647"/>
            <a:ext cx="7594283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Fake sites often mimic the look and feel of real ones, making them hard to distinguish at first glance.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071354" y="6431637"/>
            <a:ext cx="7974092" cy="1207532"/>
          </a:xfrm>
          <a:prstGeom prst="roundRect">
            <a:avLst>
              <a:gd name="adj" fmla="val 9087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6071354" y="6408777"/>
            <a:ext cx="7974092" cy="91440"/>
          </a:xfrm>
          <a:prstGeom prst="roundRect">
            <a:avLst>
              <a:gd name="adj" fmla="val 76778"/>
            </a:avLst>
          </a:prstGeom>
          <a:solidFill>
            <a:srgbClr val="A95B95"/>
          </a:solidFill>
          <a:ln/>
        </p:spPr>
      </p:sp>
      <p:sp>
        <p:nvSpPr>
          <p:cNvPr id="24" name="Shape 18"/>
          <p:cNvSpPr/>
          <p:nvPr/>
        </p:nvSpPr>
        <p:spPr>
          <a:xfrm>
            <a:off x="9807714" y="6181011"/>
            <a:ext cx="501372" cy="501372"/>
          </a:xfrm>
          <a:prstGeom prst="roundRect">
            <a:avLst>
              <a:gd name="adj" fmla="val 182380"/>
            </a:avLst>
          </a:prstGeom>
          <a:solidFill>
            <a:srgbClr val="A95B95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58090" y="6331387"/>
            <a:ext cx="200501" cy="20050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61259" y="6849428"/>
            <a:ext cx="2494717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Unexpected Login Prompts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6261259" y="7181850"/>
            <a:ext cx="7594283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If a login page suddenly appears without you navigating to it, exercise extreme caution.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6621" y="862846"/>
            <a:ext cx="7970758" cy="93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Social Engineering Tactics Used by Phishers</a:t>
            </a:r>
            <a:endParaRPr lang="en-US" sz="29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21" y="2045494"/>
            <a:ext cx="7970758" cy="14057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142" y="2213015"/>
            <a:ext cx="1862614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Fear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754142" y="2546271"/>
            <a:ext cx="7635716" cy="536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"Your account will be suspended if you don't act now!" They instill panic to prompt immediate, unthinking action.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21" y="3618786"/>
            <a:ext cx="7970758" cy="113764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4142" y="3786307"/>
            <a:ext cx="1862614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Urgency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754142" y="4119563"/>
            <a:ext cx="7635716" cy="268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"Immediate action required!" Creating a false sense of urgency prevents victims from scrutinizing the request.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621" y="4923949"/>
            <a:ext cx="7970758" cy="113764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4142" y="5091470"/>
            <a:ext cx="1862614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Trust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754142" y="5424726"/>
            <a:ext cx="7635716" cy="268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Using familiar names like "Your Bank" or "Microsoft" to establish a false sense of credibility and authority.</a:t>
            </a:r>
            <a:endParaRPr lang="en-US" sz="1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621" y="6229112"/>
            <a:ext cx="7970758" cy="113764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54142" y="6396633"/>
            <a:ext cx="1862614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Greed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754142" y="6729889"/>
            <a:ext cx="7635716" cy="268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"You've won a free prize!" or "An exclusive offer just for you!" Appeals to a desire for something for nothing.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9976" y="1857256"/>
            <a:ext cx="7123628" cy="603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Real-World Phishing Examples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596" y="3034665"/>
            <a:ext cx="4249222" cy="260592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530" y="3034665"/>
            <a:ext cx="4249222" cy="2605921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3463" y="3034665"/>
            <a:ext cx="4249222" cy="260592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59976" y="6024801"/>
            <a:ext cx="13110448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Phishing attacks come in many forms, often impersonating trusted institutions or offering tempting, too-good-to-be-true opportunities.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0796" y="511254"/>
            <a:ext cx="9904452" cy="516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Best Practices: Protecting Yourself from Phishing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50796" y="1399580"/>
            <a:ext cx="743783" cy="1115616"/>
          </a:xfrm>
          <a:prstGeom prst="roundRect">
            <a:avLst>
              <a:gd name="adj" fmla="val 360001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3206" y="1817965"/>
            <a:ext cx="278844" cy="2788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0436" y="1585436"/>
            <a:ext cx="2661404" cy="258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Don't Click Unknown Links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580436" y="1955125"/>
            <a:ext cx="12399169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Always verify the source and legitimacy of links before clicking, especially in emails or messages.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50796" y="2701052"/>
            <a:ext cx="743783" cy="1115616"/>
          </a:xfrm>
          <a:prstGeom prst="roundRect">
            <a:avLst>
              <a:gd name="adj" fmla="val 360001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3206" y="3119438"/>
            <a:ext cx="278844" cy="2788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80436" y="2886908"/>
            <a:ext cx="3198257" cy="258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Never Share OTPs or Passwords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580436" y="3256598"/>
            <a:ext cx="12399169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Legitimate organizations will never ask for your OTP or full password via email or phone.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50796" y="4002524"/>
            <a:ext cx="743783" cy="1115616"/>
          </a:xfrm>
          <a:prstGeom prst="roundRect">
            <a:avLst>
              <a:gd name="adj" fmla="val 360001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3206" y="4420910"/>
            <a:ext cx="278844" cy="2788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80436" y="4188381"/>
            <a:ext cx="2225278" cy="258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Verify Sender Identity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580436" y="4558070"/>
            <a:ext cx="12399169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Double-check the sender's email address and contact information to confirm authenticity.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50796" y="5303996"/>
            <a:ext cx="743783" cy="1115616"/>
          </a:xfrm>
          <a:prstGeom prst="roundRect">
            <a:avLst>
              <a:gd name="adj" fmla="val 360001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3206" y="5722382"/>
            <a:ext cx="278844" cy="2788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80436" y="5489853"/>
            <a:ext cx="3681413" cy="258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Use Two-Factor Authentication (2FA)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580436" y="5859542"/>
            <a:ext cx="12399169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Adding an extra layer of security significantly reduces the risk of unauthorized access.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650796" y="6605468"/>
            <a:ext cx="743783" cy="1115616"/>
          </a:xfrm>
          <a:prstGeom prst="roundRect">
            <a:avLst>
              <a:gd name="adj" fmla="val 360001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3206" y="7023854"/>
            <a:ext cx="278844" cy="2788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80436" y="6791325"/>
            <a:ext cx="3538895" cy="258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Install &amp; Update Antivirus Software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1580436" y="7161014"/>
            <a:ext cx="12399169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Antivirus programs can detect and block malicious websites and files before they cause harm.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00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1528" y="621863"/>
            <a:ext cx="6118265" cy="628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Interactive Phishing Quiz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819864" y="1578054"/>
            <a:ext cx="508635" cy="587693"/>
          </a:xfrm>
          <a:prstGeom prst="roundRect">
            <a:avLst>
              <a:gd name="adj" fmla="val 10787"/>
            </a:avLst>
          </a:prstGeom>
          <a:solidFill>
            <a:srgbClr val="4D4D51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55" y="1737003"/>
            <a:ext cx="282654" cy="2261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39491" y="1719263"/>
            <a:ext cx="6712982" cy="361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1) You receive an email saying: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1978700" y="2335292"/>
            <a:ext cx="6373773" cy="723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“Your bank account will be blocked today. Click the link immediately to verify your details.”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1639491" y="2335292"/>
            <a:ext cx="30480" cy="723424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9" name="Text 5"/>
          <p:cNvSpPr/>
          <p:nvPr/>
        </p:nvSpPr>
        <p:spPr>
          <a:xfrm>
            <a:off x="1639491" y="3313033"/>
            <a:ext cx="6712982" cy="361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What type of email is this?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1639491" y="3810357"/>
            <a:ext cx="6712982" cy="1085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A) Genuine bank email</a:t>
            </a:r>
            <a:endParaRPr lang="en-US" sz="175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B) Phishing email</a:t>
            </a:r>
            <a:endParaRPr lang="en-US" sz="175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C) Promotional email 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639491" y="5031105"/>
            <a:ext cx="6712982" cy="361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2) A message says: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1639491" y="5528429"/>
            <a:ext cx="6712982" cy="361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“Your account will be permanently closed in 1 hour.”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1639491" y="6025753"/>
            <a:ext cx="6712982" cy="361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Which social engineering technique is being used?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1639491" y="6523077"/>
            <a:ext cx="6712982" cy="1085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A) Trust</a:t>
            </a:r>
            <a:endParaRPr lang="en-US" sz="175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B) Fear</a:t>
            </a:r>
            <a:endParaRPr lang="en-US" sz="175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C) Entertainment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373630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Stay Safe Online: Your Vigilance is Key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1234321" y="4393168"/>
            <a:ext cx="7045643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 the ever-evolving digital landscape, staying informed and vigilant is your strongest defense against phishing. Protect your information, protect yourself.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864037" y="4115514"/>
            <a:ext cx="30480" cy="1740456"/>
          </a:xfrm>
          <a:prstGeom prst="rect">
            <a:avLst/>
          </a:prstGeom>
          <a:solidFill>
            <a:srgbClr val="A95B9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2025-12-31T10:09:45Z</dcterms:created>
  <dcterms:modified xsi:type="dcterms:W3CDTF">2025-12-31T10:09:45Z</dcterms:modified>
</cp:coreProperties>
</file>